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7" r:id="rId7"/>
    <p:sldId id="268" r:id="rId8"/>
    <p:sldId id="259" r:id="rId9"/>
    <p:sldId id="260" r:id="rId10"/>
    <p:sldId id="261" r:id="rId11"/>
    <p:sldId id="262" r:id="rId12"/>
    <p:sldId id="263" r:id="rId13"/>
    <p:sldId id="264" r:id="rId14"/>
  </p:sldIdLst>
  <p:sldSz cx="13011150" cy="73152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457200"/>
            <a:ext cx="28575" cy="5715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/ 我的背景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066800"/>
            <a:ext cx="3905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不是专业工程师，</a:t>
            </a:r>
            <a:endParaRPr sz="33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但习惯把复杂问题</a:t>
            </a:r>
            <a:endParaRPr sz="33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系统化</a:t>
            </a:r>
            <a:endParaRPr sz="33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857500"/>
            <a:ext cx="3905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数据仓库开发出身，多年 SaaS 产品经理。</a:t>
            </a:r>
            <a:endParaRPr sz="1725" b="0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7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技术背景有限，但有产品思维和工程思维。</a:t>
            </a:r>
            <a:endParaRPr sz="1725" b="0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4171950"/>
            <a:ext cx="3810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4400550"/>
            <a:ext cx="3276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这页不是为了证明“我会写代码”，而是说明：有真实场景、能拆流程、能判断产物是否好用的人，也可以走这条路径。</a:t>
            </a:r>
            <a:endParaRPr sz="1425" b="0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105400" y="1066800"/>
            <a:ext cx="7810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334000" y="1295400"/>
            <a:ext cx="609600" cy="609600"/>
          </a:xfrm>
          <a:prstGeom prst="rect">
            <a:avLst/>
          </a:prstGeom>
          <a:solidFill>
            <a:srgbClr val="EA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447800"/>
            <a:ext cx="304800" cy="3048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6172200" y="1285875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数据仓库开发经历</a:t>
            </a:r>
            <a:endParaRPr sz="18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72200" y="1628775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理解数据、结构、流程和自动化的基本逻辑。</a:t>
            </a:r>
            <a:endParaRPr sz="135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05400" y="2476500"/>
            <a:ext cx="7810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334000" y="2705100"/>
            <a:ext cx="609600" cy="609600"/>
          </a:xfrm>
          <a:prstGeom prst="rect">
            <a:avLst/>
          </a:prstGeom>
          <a:solidFill>
            <a:srgbClr val="E6F4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2857500"/>
            <a:ext cx="304800" cy="3048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172200" y="2695575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多年 SaaS 产品经理</a:t>
            </a:r>
            <a:endParaRPr sz="18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72200" y="3038475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习惯从用户场景、工作流、状态反馈和持续迭代里看问题。</a:t>
            </a:r>
            <a:endParaRPr sz="135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05400" y="3886200"/>
            <a:ext cx="78105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334000" y="4114800"/>
            <a:ext cx="609600" cy="609600"/>
          </a:xfrm>
          <a:prstGeom prst="rect">
            <a:avLst/>
          </a:prstGeom>
          <a:solidFill>
            <a:srgbClr val="FFF4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4267200"/>
            <a:ext cx="304800" cy="3048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172200" y="4105275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技术能力有限，但路径可复制</a:t>
            </a:r>
            <a:endParaRPr sz="18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72200" y="4448175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重点不是自己全栈开发，而是把需求讲清楚、把流程拆开、持续验收结果。</a:t>
            </a:r>
            <a:endParaRPr sz="135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05400" y="5581650"/>
            <a:ext cx="7810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105400" y="582930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适合尝试的人：产品经理 / UI UX 设计师 / 数据分析师 / 运营 / 技术发烧友</a:t>
            </a:r>
            <a:endParaRPr sz="15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/ 项目定义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个人投资知识库是什么？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1066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不是让 AI 替我判断市场，而是把认可信源、认可框架和自己的学习过程，沉淀成一个可复盘的闭环系统。</a:t>
            </a:r>
            <a:endParaRPr sz="18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381250"/>
            <a:ext cx="11239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857500"/>
            <a:ext cx="3352800" cy="21526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857500"/>
            <a:ext cx="66675" cy="21526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314325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信源闭环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36766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37528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从认可作者开始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407670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415290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 review 信源质量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44767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5529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记录判断兑现与盲区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2857500"/>
            <a:ext cx="3352800" cy="21526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819650" y="2857500"/>
            <a:ext cx="66675" cy="21526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086350" y="314325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框架沉淀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86350" y="36766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19700" y="37528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不替我判断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86350" y="407670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219700" y="415290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整理我认可的逻辑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086350" y="44767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19700" y="45529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形成可复用结构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77300" y="2857500"/>
            <a:ext cx="3352800" cy="2152650"/>
          </a:xfrm>
          <a:prstGeom prst="rect">
            <a:avLst/>
          </a:prstGeom>
          <a:solidFill>
            <a:srgbClr val="FFF4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77300" y="2857500"/>
            <a:ext cx="66675" cy="21526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44000" y="314325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自我学习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44000" y="36766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277350" y="37528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学习认可的知识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44000" y="407670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277350" y="415290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校准自己的框架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0" y="4476750"/>
            <a:ext cx="27813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277350" y="4552950"/>
            <a:ext cx="2514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保留为什么相信</a:t>
            </a:r>
            <a:endParaRPr sz="12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2000" y="5486400"/>
            <a:ext cx="11239500" cy="9334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81100" y="5753100"/>
            <a:ext cx="1040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“人赚不到认知以外的钱；凭运气赚到的每一块钱，都会凭实力输回去。”</a:t>
            </a:r>
            <a:endParaRPr sz="2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200150" y="6115050"/>
            <a:ext cx="1036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所以这套系统的核心，是让信息、信源、框架和学习过程持续形成闭环。</a:t>
            </a:r>
            <a:endParaRPr sz="1350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a17ab09-74e8-42d8-9df8-cdd7831524b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4191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步骤 1-3：采集、入口与多源处理管线</a:t>
            </a:r>
            <a:endParaRPr sz="31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990600"/>
            <a:ext cx="876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把手机端看到的文章和视频，经过 WorkBuddy 统一入口，按来源转成 Markdown 后进入 Obsidian。</a:t>
            </a:r>
            <a:endParaRPr sz="15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466850"/>
            <a:ext cx="25717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66850"/>
            <a:ext cx="25717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752600"/>
            <a:ext cx="323850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1819275"/>
            <a:ext cx="133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2479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内容采集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686050"/>
            <a:ext cx="2114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手机端先由我做人工初筛：只保留认可作者、认可信源，或对理财/投资/交易有学习价值的内容。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657600"/>
            <a:ext cx="990600" cy="285750"/>
          </a:xfrm>
          <a:prstGeom prst="rect">
            <a:avLst/>
          </a:prstGeom>
          <a:solidFill>
            <a:srgbClr val="EAF1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33450" y="37242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知乎文章 / 问答</a:t>
            </a:r>
            <a:endParaRPr sz="10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43100" y="3657600"/>
            <a:ext cx="990600" cy="285750"/>
          </a:xfrm>
          <a:prstGeom prst="rect">
            <a:avLst/>
          </a:prstGeom>
          <a:solidFill>
            <a:srgbClr val="FFECE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038350" y="37242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E11D4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E11D4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小红书笔记</a:t>
            </a:r>
            <a:endParaRPr sz="1050" b="1">
              <a:solidFill>
                <a:srgbClr val="E11D4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057650"/>
            <a:ext cx="2095500" cy="285750"/>
          </a:xfrm>
          <a:prstGeom prst="rect">
            <a:avLst/>
          </a:prstGeom>
          <a:solidFill>
            <a:srgbClr val="EAF7E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33450" y="4124325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微信公众号文章</a:t>
            </a:r>
            <a:endParaRPr sz="1050" b="1">
              <a:solidFill>
                <a:srgbClr val="1580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457700"/>
            <a:ext cx="2095500" cy="285750"/>
          </a:xfrm>
          <a:prstGeom prst="rect">
            <a:avLst/>
          </a:prstGeom>
          <a:solidFill>
            <a:srgbClr val="F3E8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3450" y="4524375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B站 / 抖音视频</a:t>
            </a:r>
            <a:endParaRPr sz="105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105400"/>
            <a:ext cx="2095500" cy="5143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5257800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随内容保留来源、作者、链接，供后续信源 review。</a:t>
            </a:r>
            <a:endParaRPr sz="1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295650" y="3714750"/>
            <a:ext cx="4000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619500" y="35718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829050" y="1466850"/>
            <a:ext cx="23812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829050" y="1466850"/>
            <a:ext cx="238125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038600" y="1752600"/>
            <a:ext cx="323850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152900" y="1819275"/>
            <a:ext cx="133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38600" y="22479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采集入口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038600" y="2686050"/>
            <a:ext cx="180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统一把链接或内容转发给 WorkBuddy 独家支持的微信聊天窗口。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931920" y="3323590"/>
            <a:ext cx="2011680" cy="1896110"/>
          </a:xfrm>
          <a:prstGeom prst="rect">
            <a:avLst/>
          </a:prstGeom>
          <a:solidFill>
            <a:srgbClr val="E6F4F1"/>
          </a:solidFill>
          <a:ln w="9525">
            <a:solidFill>
              <a:srgbClr val="DCE3ED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038600" y="3448050"/>
            <a:ext cx="1771650" cy="819150"/>
          </a:xfrm>
          <a:prstGeom prst="rect">
            <a:avLst/>
          </a:prstGeom>
          <a:solidFill>
            <a:srgbClr val="EAF7EC"/>
          </a:solidFill>
          <a:ln w="9525">
            <a:solidFill>
              <a:srgbClr val="DCE3ED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000" y="3657600"/>
            <a:ext cx="323850" cy="32385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4610100" y="361950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微信</a:t>
            </a:r>
            <a:r>
              <a:rPr lang="en-US"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Claw</a:t>
            </a:r>
            <a:r>
              <a:rPr lang="en-US"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bot</a:t>
            </a:r>
            <a:endParaRPr lang="en-US" sz="13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10100" y="38862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链接 </a:t>
            </a:r>
            <a:r>
              <a:rPr lang="en-US"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 </a:t>
            </a:r>
            <a:r>
              <a:rPr lang="zh-CN" altLang="en-US"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文章</a:t>
            </a:r>
            <a:endParaRPr lang="zh-CN" altLang="en-US"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4610100"/>
            <a:ext cx="323850" cy="32385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4610100" y="457200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WorkBuddy</a:t>
            </a:r>
            <a:endParaRPr sz="13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610100" y="48387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Gateway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038600" y="54292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识别来源 → 判断类型 → 调度处理管线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05550" y="3714750"/>
            <a:ext cx="4000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629400" y="35718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38950" y="1466850"/>
            <a:ext cx="5543550" cy="476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838950" y="1466850"/>
            <a:ext cx="55435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048500" y="1752600"/>
            <a:ext cx="323850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162800" y="1819275"/>
            <a:ext cx="133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048500" y="22479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多源处理管线</a:t>
            </a:r>
            <a:endParaRPr sz="21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048500" y="26289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不同来源不强行统一抓取方式，而是选择最稳定的转换路径。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048500" y="3067050"/>
            <a:ext cx="51244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048500" y="3067050"/>
            <a:ext cx="66675" cy="9334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258050" y="3238500"/>
            <a:ext cx="470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3.1 微信文章 Pipeline</a:t>
            </a:r>
            <a:endParaRPr sz="1500" b="1">
              <a:solidFill>
                <a:srgbClr val="1580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58050" y="3495675"/>
            <a:ext cx="470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链接发给 WorkBuddy，由自有 skill 解析正文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58050" y="36957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334250" y="3781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链接识别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343900" y="38481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401050" y="37052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496300" y="36957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572500" y="3781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WorkBuddy Skill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582150" y="38481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639300" y="37052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734550" y="36957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810750" y="3781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正文解析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0820400" y="38481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0877550" y="37052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972800" y="36957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1049000" y="3781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048500" y="4114800"/>
            <a:ext cx="51244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048500" y="4114800"/>
            <a:ext cx="66675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258050" y="4286250"/>
            <a:ext cx="470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3.2 知乎 / 小红书 Pipeline</a:t>
            </a:r>
            <a:endParaRPr sz="150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258050" y="4543425"/>
            <a:ext cx="470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浏览器完成：Chrome Extension + Tampermonkey 脚本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7258050" y="474345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7334250" y="48291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浏览器打开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8343900" y="489585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8401050" y="47529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8496300" y="474345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8572500" y="48291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脚本下载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582150" y="489585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9639300" y="47529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734550" y="474345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9810750" y="48291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内容提取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820400" y="489585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0877550" y="47529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0972800" y="474345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1049000" y="48291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048500" y="5162550"/>
            <a:ext cx="51244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048500" y="5162550"/>
            <a:ext cx="66675" cy="933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258050" y="5334000"/>
            <a:ext cx="470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3.3 视频 Pipeline（B站 / 抖音）</a:t>
            </a:r>
            <a:endParaRPr sz="150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258050" y="5591175"/>
            <a:ext cx="470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链接发给</a:t>
            </a:r>
            <a:r>
              <a:rPr lang="en-US" altLang="zh-CN"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Workbuddy + </a:t>
            </a: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听脑 AI 转写；未来：研究本机 Whisper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258050" y="57912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7334250" y="58769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视频链接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8343900" y="59436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401050" y="58007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496300" y="57912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8572500" y="58769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听脑 AI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9582150" y="59436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9639300" y="58007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9734550" y="57912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9810750" y="58769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转写整理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0820400" y="5943600"/>
            <a:ext cx="133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10877550" y="58007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0972800" y="5791200"/>
            <a:ext cx="10668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11049000" y="58769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</a:t>
            </a:r>
            <a:endParaRPr sz="9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628650" y="6438900"/>
            <a:ext cx="11753850" cy="4953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914400" y="6581775"/>
            <a:ext cx="666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统一输出：Markdown 原始材料 → Obsidian 指定 Vault / 指定文件夹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7639050" y="661035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 source / author / url 等元数据，为后续 Fast Read、深读和信源评价提供上下文。</a:t>
            </a:r>
            <a:endParaRPr sz="112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419100"/>
            <a:ext cx="933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步骤 4-5：标准化处理与 Obsidian 知识库</a:t>
            </a:r>
            <a:endParaRPr sz="30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971550"/>
            <a:ext cx="933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Markdown 原始材料进入 Codex/GPT 处理层，再沉淀为可检索、可复盘、可继续扩展的知识资产。</a:t>
            </a:r>
            <a:endParaRPr sz="15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466850"/>
            <a:ext cx="200025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66850"/>
            <a:ext cx="2000250" cy="66675"/>
          </a:xfrm>
          <a:prstGeom prst="rect">
            <a:avLst/>
          </a:prstGeom>
          <a:solidFill>
            <a:srgbClr val="475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7526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上游输入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71700"/>
            <a:ext cx="1524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步骤 1-3 已经把不同来源统一转成 Markdown，并保留基础元数据。</a:t>
            </a:r>
            <a:endParaRPr sz="11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990850"/>
            <a:ext cx="1485900" cy="266700"/>
          </a:xfrm>
          <a:prstGeom prst="rect">
            <a:avLst/>
          </a:prstGeom>
          <a:solidFill>
            <a:srgbClr val="EAF1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057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 原始材料</a:t>
            </a:r>
            <a:endParaRPr sz="90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371850"/>
            <a:ext cx="14859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438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source / author / url</a:t>
            </a:r>
            <a:endParaRPr sz="90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752850"/>
            <a:ext cx="1485900" cy="266700"/>
          </a:xfrm>
          <a:prstGeom prst="rect">
            <a:avLst/>
          </a:prstGeom>
          <a:solidFill>
            <a:srgbClr val="E6F4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819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76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0F76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进入 00_Inbox</a:t>
            </a:r>
            <a:endParaRPr sz="900" b="1">
              <a:solidFill>
                <a:srgbClr val="0F766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476750"/>
            <a:ext cx="1485900" cy="8001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6482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触发方式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4895850"/>
            <a:ext cx="1200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微信输入“分析”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工作台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Obsidian 拖给 Codex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43200" y="3714750"/>
            <a:ext cx="3429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009900" y="35718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19450" y="1466850"/>
            <a:ext cx="52197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219450" y="1466850"/>
            <a:ext cx="521970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390900" y="1714500"/>
            <a:ext cx="323850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505200" y="1781175"/>
            <a:ext cx="133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848100" y="1676400"/>
            <a:ext cx="4400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标准化处理（Codex + GPT）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848100" y="1962150"/>
            <a:ext cx="440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不是让 AI 判断市场，而是把材料转成稳定结构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19450" y="2457450"/>
            <a:ext cx="52197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219450" y="2457450"/>
            <a:ext cx="66675" cy="1657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429000" y="2628900"/>
            <a:ext cx="480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4.1 Fast Read：轻量筛选层</a:t>
            </a:r>
            <a:endParaRPr sz="16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29000" y="2895600"/>
            <a:ext cx="480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只提取作者观点和关键细节，不在这里评价观点价值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429000" y="3200400"/>
            <a:ext cx="1771650" cy="666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562350" y="33147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62350" y="354330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638550" y="358140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 原文</a:t>
            </a:r>
            <a:endParaRPr sz="79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562350" y="375285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638550" y="379095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来源元数据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562350" y="396240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638550" y="400050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用户触发理由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0" y="3867150"/>
            <a:ext cx="36195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619750" y="37242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829300" y="3200400"/>
            <a:ext cx="2095500" cy="666750"/>
          </a:xfrm>
          <a:prstGeom prst="rect">
            <a:avLst/>
          </a:prstGeom>
          <a:solidFill>
            <a:srgbClr val="EAF1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981700" y="33147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981700" y="354330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057900" y="358140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作者观点</a:t>
            </a:r>
            <a:endParaRPr sz="79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981700" y="375285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057900" y="379095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关键细节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981700" y="396240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057900" y="400050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是否值得深读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219450" y="4324350"/>
            <a:ext cx="52197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219450" y="4324350"/>
            <a:ext cx="66675" cy="16192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3429000" y="4495800"/>
            <a:ext cx="480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4.2 Deep Read：系统扩展层</a:t>
            </a:r>
            <a:endParaRPr sz="1650" b="1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429000" y="4762500"/>
            <a:ext cx="480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对已认可或高价值内容做判断、拆分、链接和入库扩展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429000" y="5067300"/>
            <a:ext cx="177165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562350" y="51816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562350" y="541020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638550" y="544830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是否有用</a:t>
            </a:r>
            <a:endParaRPr sz="790" b="1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562350" y="561975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638550" y="565785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是否极端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3562350" y="582930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638550" y="586740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是否可信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3562350" y="6038850"/>
            <a:ext cx="150495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638550" y="6076950"/>
            <a:ext cx="13525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是否采纳/降权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5334000" y="5734050"/>
            <a:ext cx="361950" cy="190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5619750" y="55911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829300" y="5067300"/>
            <a:ext cx="2095500" cy="628650"/>
          </a:xfrm>
          <a:prstGeom prst="rect">
            <a:avLst/>
          </a:prstGeom>
          <a:solidFill>
            <a:srgbClr val="FFF4E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5981700" y="51816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</a:t>
            </a:r>
            <a:endParaRPr sz="11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981700" y="541020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6057900" y="544830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可跟踪假设</a:t>
            </a:r>
            <a:endParaRPr sz="790" b="1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5981700" y="561975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057900" y="565785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指标/概念卡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5981700" y="582930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057900" y="586740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资产页链接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981700" y="6038850"/>
            <a:ext cx="1790700" cy="171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6057900" y="6076950"/>
            <a:ext cx="1638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3341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检查表/Review</a:t>
            </a:r>
            <a:endParaRPr sz="790" b="1">
              <a:solidFill>
                <a:srgbClr val="3341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553450" y="3714750"/>
            <a:ext cx="3429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8820150" y="357187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29700" y="1466850"/>
            <a:ext cx="33528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9029700" y="1466850"/>
            <a:ext cx="335280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9201150" y="1714500"/>
            <a:ext cx="323850" cy="3238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9315450" y="1781175"/>
            <a:ext cx="133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658350" y="16764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Obsidian 知识库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658350" y="1962150"/>
            <a:ext cx="2533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把一次处理结果变成长期知识资产</a:t>
            </a:r>
            <a:endParaRPr sz="9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9029700" y="2457450"/>
            <a:ext cx="335280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239250" y="2686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Investment Vault 结构</a:t>
            </a:r>
            <a:endParaRPr sz="15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239250" y="308610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9353550" y="31718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47556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00_Inbox</a:t>
            </a:r>
            <a:endParaRPr sz="1050" b="1">
              <a:solidFill>
                <a:srgbClr val="47556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401300" y="318135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工作副本 / 待处理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239250" y="356235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353550" y="364807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01_Articles</a:t>
            </a:r>
            <a:endParaRPr sz="105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10401300" y="36576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Fast / Deep 文章卡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239250" y="403860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9353550" y="41243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C3A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02_Authors</a:t>
            </a:r>
            <a:endParaRPr sz="1050" b="1">
              <a:solidFill>
                <a:srgbClr val="7C3A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0401300" y="413385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低频作者画像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9239250" y="451485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9353550" y="460057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B4530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03_Indicators</a:t>
            </a:r>
            <a:endParaRPr sz="1050" b="1">
              <a:solidFill>
                <a:srgbClr val="B4530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0401300" y="46101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指标与决策概念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239250" y="499110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9353550" y="507682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F76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04_Assets</a:t>
            </a:r>
            <a:endParaRPr sz="1050" b="1">
              <a:solidFill>
                <a:srgbClr val="0F766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0401300" y="508635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资产框架与相关指标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9239250" y="5467350"/>
            <a:ext cx="310515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9353550" y="5553075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B2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B277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05_Checklists</a:t>
            </a:r>
            <a:endParaRPr sz="1050" b="1">
              <a:solidFill>
                <a:srgbClr val="DB277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0401300" y="5562600"/>
            <a:ext cx="1771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检查表 / Review 模板</a:t>
            </a:r>
            <a:endParaRPr sz="900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628650" y="6381750"/>
            <a:ext cx="11753850" cy="476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914400" y="6524625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闭环：原文 → Fast Read → Deep Read → Obsidian 沉淀 → 后续 review 校准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9867900" y="6543675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CBD5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信源、框架、假设和学习过程都能被回看、链接和复盘。</a:t>
            </a:r>
            <a:endParaRPr sz="975" b="0">
              <a:solidFill>
                <a:srgbClr val="CBD5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/ 最初原由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一开始，我只是想让 AI 帮我读文章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952750"/>
            <a:ext cx="44767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需求最初很普通：文章太多，想知道哪些值得看，哪些值得放进 Obsidian。</a:t>
            </a:r>
            <a:endParaRPr sz="2325" b="0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4800600"/>
            <a:ext cx="4953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这看起来像“总结文章”，但真实使用几轮后，问题很快变成：如何让一次聊天里的有用结果，进入一个可以长期复用的系统。</a:t>
            </a:r>
            <a:endParaRPr sz="15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34150" y="2895600"/>
            <a:ext cx="6134100" cy="762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34150" y="2895600"/>
            <a:ext cx="57150" cy="762000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0" y="312420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收藏很多文章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34150" y="3810000"/>
            <a:ext cx="6134100" cy="762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34150" y="3810000"/>
            <a:ext cx="57150" cy="762000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403860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 AI 总结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34150" y="4724400"/>
            <a:ext cx="6134100" cy="762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34150" y="4724400"/>
            <a:ext cx="57150" cy="762000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495300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发现下次仍要重讲规则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34150" y="5638800"/>
            <a:ext cx="6134100" cy="762000"/>
          </a:xfrm>
          <a:prstGeom prst="rect">
            <a:avLst/>
          </a:prstGeom>
          <a:solidFill>
            <a:srgbClr val="EAF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34150" y="5638800"/>
            <a:ext cx="57150" cy="762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0" y="586740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开始把规则沉淀下来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/ 关键转折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聊天结果本身，不等于系统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86050"/>
            <a:ext cx="55816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30480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普通对话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3714750"/>
            <a:ext cx="4781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这次回答有用，但下次结构可能变化；内容看完了，却没有稳定进入知识库。</a:t>
            </a:r>
            <a:endParaRPr sz="18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2686050"/>
            <a:ext cx="5581650" cy="2286000"/>
          </a:xfrm>
          <a:prstGeom prst="rect">
            <a:avLst/>
          </a:prstGeom>
          <a:solidFill>
            <a:srgbClr val="EAF1FF"/>
          </a:solidFill>
          <a:ln w="9525">
            <a:solidFill>
              <a:srgbClr val="9DBAF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67550" y="30480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系统化协作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67550" y="3714750"/>
            <a:ext cx="47815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把反复确认过的偏好，固化成模板、skill、检查器、本地工具和操作入口。</a:t>
            </a:r>
            <a:endParaRPr sz="18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5905500"/>
            <a:ext cx="11239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6134100"/>
            <a:ext cx="1123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项目的起点是内容处理，真正的难点是把一次次聊天沉淀成可重复的工作流。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 / 方法论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时代的工具开发，更像 Agile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28800"/>
            <a:ext cx="10287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不是先写完一份完美需求文档，再找人一次性开发；而是在真实使用中快速试错、持续反馈、不断把有效做法固化进系统。</a:t>
            </a:r>
            <a:endParaRPr sz="17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876550"/>
            <a:ext cx="3352800" cy="1428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876550"/>
            <a:ext cx="66675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3114675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真实场景优先</a:t>
            </a:r>
            <a:endParaRPr sz="20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09650" y="3562350"/>
            <a:ext cx="2781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先从自己的高频痛点开始，不为抽象功能做系统。</a:t>
            </a:r>
            <a:endParaRPr sz="14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14850" y="2876550"/>
            <a:ext cx="3352800" cy="1428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2876550"/>
            <a:ext cx="66675" cy="1428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3114675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小步快跑</a:t>
            </a:r>
            <a:endParaRPr sz="20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62500" y="3562350"/>
            <a:ext cx="2781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先让一个流程跑通，再根据使用体验改下一版。</a:t>
            </a:r>
            <a:endParaRPr sz="14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67700" y="2876550"/>
            <a:ext cx="3352800" cy="1428750"/>
          </a:xfrm>
          <a:prstGeom prst="rect">
            <a:avLst/>
          </a:prstGeom>
          <a:solidFill>
            <a:srgbClr val="FFF4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2876550"/>
            <a:ext cx="66675" cy="14287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15350" y="3114675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持续验收</a:t>
            </a:r>
            <a:endParaRPr sz="20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15350" y="3562350"/>
            <a:ext cx="27813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我负责判断是否好用，AI 负责把反馈转成可执行修改。</a:t>
            </a:r>
            <a:endParaRPr sz="14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445770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4457700"/>
            <a:ext cx="18097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3450" y="475297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</a:t>
            </a:r>
            <a:endParaRPr sz="17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571750" y="4857750"/>
            <a:ext cx="4953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52750" y="469582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67050" y="445770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67050" y="4457700"/>
            <a:ext cx="1809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238500" y="475297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发现不顺手</a:t>
            </a:r>
            <a:endParaRPr sz="17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76800" y="4857750"/>
            <a:ext cx="4953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57800" y="469582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72100" y="445770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72100" y="4457700"/>
            <a:ext cx="1809750" cy="571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43550" y="475297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对话澄清</a:t>
            </a:r>
            <a:endParaRPr sz="17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181850" y="4857750"/>
            <a:ext cx="4953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562850" y="469582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77150" y="445770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77150" y="4457700"/>
            <a:ext cx="1809750" cy="57150"/>
          </a:xfrm>
          <a:prstGeom prst="rect">
            <a:avLst/>
          </a:prstGeom>
          <a:solidFill>
            <a:srgbClr val="475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48600" y="475297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系统改造</a:t>
            </a:r>
            <a:endParaRPr sz="17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486900" y="4857750"/>
            <a:ext cx="49530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867900" y="469582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982200" y="445770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82200" y="4457700"/>
            <a:ext cx="1809750" cy="57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153650" y="475297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继续使用</a:t>
            </a:r>
            <a:endParaRPr sz="172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62000" y="5905500"/>
            <a:ext cx="11239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62000" y="6134100"/>
            <a:ext cx="1123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个人工具开发从“项目交付”变成“持续迭代”：需求、设计、开发、测试，都可以在对话里滚动发生。</a:t>
            </a:r>
            <a:endParaRPr sz="18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 / 迭代方式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每一次“不顺手”，都会变成下一轮产品需求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876550"/>
            <a:ext cx="242887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3429000"/>
            <a:ext cx="2047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原始需求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90875" y="3609975"/>
            <a:ext cx="514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590925" y="345757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705225" y="2876550"/>
            <a:ext cx="242887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895725" y="3429000"/>
            <a:ext cx="2047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对话中暴露问题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34100" y="3609975"/>
            <a:ext cx="514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34150" y="345757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48450" y="2876550"/>
            <a:ext cx="2428875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38950" y="3429000"/>
            <a:ext cx="2047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我纠正判断标准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77325" y="3609975"/>
            <a:ext cx="514350" cy="19050"/>
          </a:xfrm>
          <a:prstGeom prst="rect">
            <a:avLst/>
          </a:prstGeom>
          <a:solidFill>
            <a:srgbClr val="8A96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477375" y="3457575"/>
            <a:ext cx="19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8A96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250" b="1">
              <a:solidFill>
                <a:srgbClr val="8A96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91675" y="2876550"/>
            <a:ext cx="2428875" cy="1485900"/>
          </a:xfrm>
          <a:prstGeom prst="rect">
            <a:avLst/>
          </a:prstGeom>
          <a:solidFill>
            <a:srgbClr val="E6F4F1"/>
          </a:solidFill>
          <a:ln w="9525">
            <a:solidFill>
              <a:srgbClr val="8DC9C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82175" y="3429000"/>
            <a:ext cx="20478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沉淀成系统能力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5619750"/>
            <a:ext cx="2324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3450" y="57531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Fast Read 变短</a:t>
            </a:r>
            <a:endParaRPr sz="1425" b="1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71850" y="5619750"/>
            <a:ext cx="2324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543300" y="57531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 Expand 承担判断</a:t>
            </a:r>
            <a:endParaRPr sz="1425" b="1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81700" y="5619750"/>
            <a:ext cx="2324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153150" y="57531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Obsidian 目录分层</a:t>
            </a:r>
            <a:endParaRPr sz="1425" b="1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91550" y="5619750"/>
            <a:ext cx="2324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0" y="57531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本地工作台显示状态</a:t>
            </a:r>
            <a:endParaRPr sz="1425" b="1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 / 端到端工作流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现在它已经不是一个 Prompt，而是一条工作流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895600"/>
            <a:ext cx="17811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文章进入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98433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98433" y="2895600"/>
            <a:ext cx="17811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869883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Fast Read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34865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34865" y="2895600"/>
            <a:ext cx="1781175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806315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 Expand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1298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71298" y="2895600"/>
            <a:ext cx="1781175" cy="66675"/>
          </a:xfrm>
          <a:prstGeom prst="rect">
            <a:avLst/>
          </a:prstGeom>
          <a:solidFill>
            <a:srgbClr val="4755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42748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Obsidian 入库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07730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07730" y="2895600"/>
            <a:ext cx="17811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79180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日常回看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444163" y="2895600"/>
            <a:ext cx="178117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444163" y="2895600"/>
            <a:ext cx="1781175" cy="66675"/>
          </a:xfrm>
          <a:prstGeom prst="rect">
            <a:avLst/>
          </a:prstGeom>
          <a:solidFill>
            <a:srgbClr val="DB2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615613" y="3638550"/>
            <a:ext cx="14382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复盘维护</a:t>
            </a:r>
            <a:endParaRPr sz="1875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5905500"/>
            <a:ext cx="11239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6134100"/>
            <a:ext cx="1123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重点不是每一步有多复杂，而是每一步都来自真实使用中的反复修正。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3011150" cy="73152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476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 / 技术架构</a:t>
            </a:r>
            <a:endParaRPr sz="127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028700"/>
            <a:ext cx="1066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技术架构：聊天如何落地成系统</a:t>
            </a:r>
            <a:endParaRPr sz="40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24150"/>
            <a:ext cx="2724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724150"/>
            <a:ext cx="272415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0099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对话层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3810000"/>
            <a:ext cx="21526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需求讨论、偏好纠正、规则确认</a:t>
            </a:r>
            <a:endParaRPr sz="17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81413" y="2724150"/>
            <a:ext cx="2724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81413" y="2724150"/>
            <a:ext cx="2724150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948113" y="30099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规则层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948113" y="3810000"/>
            <a:ext cx="21526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模板、Skills、检查器</a:t>
            </a:r>
            <a:endParaRPr sz="17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00825" y="2724150"/>
            <a:ext cx="2724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00825" y="2724150"/>
            <a:ext cx="2724150" cy="66675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67525" y="30099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数据层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67525" y="3810000"/>
            <a:ext cx="21526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Obsidian Investment Vault</a:t>
            </a:r>
            <a:endParaRPr sz="17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0238" y="2724150"/>
            <a:ext cx="2724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20238" y="2724150"/>
            <a:ext cx="2724150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86938" y="30099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工具层</a:t>
            </a:r>
            <a:endParaRPr sz="25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86938" y="3810000"/>
            <a:ext cx="21526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本地工作台、脚本、自动化</a:t>
            </a:r>
            <a:endParaRPr sz="1725" b="0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5905500"/>
            <a:ext cx="11239500" cy="14288"/>
          </a:xfrm>
          <a:prstGeom prst="rect">
            <a:avLst/>
          </a:prstGeom>
          <a:solidFill>
            <a:srgbClr val="D9DE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6134100"/>
            <a:ext cx="1123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没有替我完成一个作品，而是参与了一个个人系统的持续生长。</a:t>
            </a:r>
            <a:endParaRPr sz="195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2716</Words>
  <Application>WPS 演示</Application>
  <PresentationFormat>Converted Presentation</PresentationFormat>
  <Paragraphs>411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胡可桢Leo</cp:lastModifiedBy>
  <cp:revision>3</cp:revision>
  <dcterms:created xsi:type="dcterms:W3CDTF">2026-05-13T07:57:07Z</dcterms:created>
  <dcterms:modified xsi:type="dcterms:W3CDTF">2026-05-13T07:57:07Z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744EFF694556054E0D00036AA29CC8B9_42</vt:lpwstr>
  </property>
  <property fmtid="{D5CDD505-2E9C-101B-9397-08002B2CF9AE}" pid="3" name="KSOProductBuildVer">
    <vt:lpwstr>2052-12.1.25869.25869</vt:lpwstr>
  </property>
</Properties>
</file>